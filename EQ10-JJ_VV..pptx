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3" r:id="rId5"/>
    <p:sldId id="275" r:id="rId6"/>
    <p:sldId id="277" r:id="rId7"/>
    <p:sldId id="280" r:id="rId8"/>
    <p:sldId id="284" r:id="rId9"/>
    <p:sldId id="286" r:id="rId10"/>
    <p:sldId id="287" r:id="rId1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394B00-486E-0373-0517-8BC142CE1195}" v="2" dt="2025-09-23T14:43:09.423"/>
    <p1510:client id="{BFE7B40D-672B-B43D-946C-04825D7C1C58}" v="450" dt="2025-09-23T14:42:46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82"/>
    <p:restoredTop sz="96327"/>
  </p:normalViewPr>
  <p:slideViewPr>
    <p:cSldViewPr snapToGrid="0">
      <p:cViewPr varScale="1">
        <p:scale>
          <a:sx n="82" d="100"/>
          <a:sy n="82" d="100"/>
        </p:scale>
        <p:origin x="810" y="90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3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3AFD17D-D7CF-47D4-A906-8607D5F7297F}" type="datetime1">
              <a:rPr lang="es-ES" smtClean="0"/>
              <a:t>23/09/2025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6482836-E43C-41FF-A11B-3D8AB6E68FC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AAB4FE23-9F97-44C5-AAAD-349725D813D0}" type="datetime1">
              <a:rPr lang="es-ES" smtClean="0"/>
              <a:pPr/>
              <a:t>23/09/2025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ECDE012-9E2E-4477-8B5C-4E7D4E9BCBA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CDE012-9E2E-4477-8B5C-4E7D4E9BCBA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81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CDE012-9E2E-4477-8B5C-4E7D4E9BCBA6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3243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CDE012-9E2E-4477-8B5C-4E7D4E9BCBA6}" type="slidenum">
              <a:rPr lang="es-ES" noProof="0" smtClean="0"/>
              <a:t>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73130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CDE012-9E2E-4477-8B5C-4E7D4E9BCBA6}" type="slidenum">
              <a:rPr lang="es-ES" noProof="0" smtClean="0"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28060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D92F-63B7-F3F2-3B3F-AA4BCD3EB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390CC0-914E-12F0-EC74-469A76534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7607CF4-8499-E616-C895-62C9994D9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05B101-9206-A4E5-3F6B-0C3D6238E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CDE012-9E2E-4477-8B5C-4E7D4E9BCBA6}" type="slidenum">
              <a:rPr lang="es-ES" noProof="0" smtClean="0"/>
              <a:t>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58495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rtlCol="0" anchor="t">
            <a:normAutofit/>
          </a:bodyPr>
          <a:lstStyle>
            <a:lvl1pPr algn="l">
              <a:lnSpc>
                <a:spcPct val="80000"/>
              </a:lnSpc>
              <a:defRPr lang="es-ES" sz="72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 rtlCol="0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es-ES"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editar el estilo de subtítulo del patrón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 rtlCol="0"/>
          <a:lstStyle>
            <a:lvl1pPr>
              <a:defRPr lang="es-ES" sz="50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lang="es-ES"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es-ES" sz="1600" i="1"/>
            </a:lvl2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la secció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rtlCol="0" anchor="b"/>
          <a:lstStyle>
            <a:lvl1pPr>
              <a:defRPr lang="es-ES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 rtlCol="0"/>
          <a:lstStyle>
            <a:lvl1pPr marL="0" indent="0">
              <a:buNone/>
              <a:defRPr lang="es-ES" sz="2400">
                <a:solidFill>
                  <a:schemeClr val="bg1"/>
                </a:solidFill>
              </a:defRPr>
            </a:lvl1pPr>
            <a:lvl2pPr marL="457200" indent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lumnas (oscura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 rtlCol="0"/>
          <a:lstStyle>
            <a:lvl1pPr>
              <a:defRPr lang="es-ES" sz="5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bg1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bg1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lumnas (claro)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 rtlCol="0"/>
          <a:lstStyle>
            <a:lvl1pPr>
              <a:defRPr lang="es-ES" sz="500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banda de contenido oscur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es-ES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s-ES">
                <a:solidFill>
                  <a:schemeClr val="accent5"/>
                </a:solidFill>
              </a:defRPr>
            </a:lvl1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 rtlCol="0"/>
          <a:lstStyle>
            <a:lvl1pPr>
              <a:defRPr lang="es-ES" sz="500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 a la izquier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s-ES" noProof="0">
              <a:solidFill>
                <a:schemeClr val="bg2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 rtlCol="0"/>
          <a:lstStyle>
            <a:lvl1pPr>
              <a:lnSpc>
                <a:spcPct val="100000"/>
              </a:lnSpc>
              <a:defRPr lang="es-ES" sz="500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</p:txBody>
      </p:sp>
      <p:sp>
        <p:nvSpPr>
          <p:cNvPr id="22" name="Marcador de texto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a la derech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 rtlCol="0"/>
          <a:lstStyle>
            <a:lvl1pPr>
              <a:lnSpc>
                <a:spcPct val="80000"/>
              </a:lnSpc>
              <a:defRPr lang="es-ES" sz="500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en la parte derecha oscur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>
              <a:solidFill>
                <a:schemeClr val="tx2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 rtlCol="0"/>
          <a:lstStyle>
            <a:lvl1pPr>
              <a:lnSpc>
                <a:spcPct val="80000"/>
              </a:lnSpc>
              <a:defRPr lang="es-ES" sz="500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accent5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accent5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 rtlCol="0"/>
          <a:lstStyle>
            <a:lvl1pPr>
              <a:defRPr lang="es-ES" sz="5000"/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 rtlCol="0"/>
          <a:lstStyle>
            <a:lvl1pPr>
              <a:defRPr lang="es-ES" sz="50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dirty="0"/>
              <a:t>Haga clic para modificar los estilos de texto del patrón</a:t>
            </a:r>
          </a:p>
          <a:p>
            <a:pPr lvl="1" rtl="0"/>
            <a:r>
              <a:rPr lang="es-ES" dirty="0"/>
              <a:t>Segundo nivel</a:t>
            </a:r>
          </a:p>
          <a:p>
            <a:pPr lvl="2" rtl="0"/>
            <a:r>
              <a:rPr lang="es-ES" dirty="0"/>
              <a:t>Tercer nivel</a:t>
            </a:r>
          </a:p>
          <a:p>
            <a:pPr lvl="3" rtl="0"/>
            <a:r>
              <a:rPr lang="es-ES" dirty="0"/>
              <a:t>Cuarto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texto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rtlCol="0" anchor="t"/>
          <a:lstStyle>
            <a:lvl1pPr>
              <a:lnSpc>
                <a:spcPct val="80000"/>
              </a:lnSpc>
              <a:defRPr lang="es-ES" sz="72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s-ES"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lang="es-ES" sz="2200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C28C00-D101-DFF8-7E0A-1AEBF0DB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64B432-06C2-E932-E96F-67CECC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lang="es-ES" sz="3200"/>
            </a:lvl1pPr>
            <a:lvl2pPr>
              <a:defRPr lang="es-ES" sz="2800"/>
            </a:lvl2pPr>
            <a:lvl3pPr>
              <a:defRPr lang="es-ES" sz="2400"/>
            </a:lvl3pPr>
            <a:lvl4pPr>
              <a:defRPr lang="es-ES" sz="2000"/>
            </a:lvl4pPr>
            <a:lvl5pPr>
              <a:defRPr lang="es-ES" sz="2000"/>
            </a:lvl5pPr>
            <a:lvl6pPr>
              <a:defRPr lang="es-ES" sz="2000"/>
            </a:lvl6pPr>
            <a:lvl7pPr>
              <a:defRPr lang="es-ES" sz="2000"/>
            </a:lvl7pPr>
            <a:lvl8pPr>
              <a:defRPr lang="es-ES" sz="2000"/>
            </a:lvl8pPr>
            <a:lvl9pPr>
              <a:defRPr lang="es-ES" sz="20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es-ES" sz="1600"/>
            </a:lvl1pPr>
            <a:lvl2pPr marL="457200" indent="0">
              <a:buNone/>
              <a:defRPr lang="es-ES" sz="1400"/>
            </a:lvl2pPr>
            <a:lvl3pPr marL="914400" indent="0">
              <a:buNone/>
              <a:defRPr lang="es-ES" sz="1200"/>
            </a:lvl3pPr>
            <a:lvl4pPr marL="1371600" indent="0">
              <a:buNone/>
              <a:defRPr lang="es-ES" sz="1000"/>
            </a:lvl4pPr>
            <a:lvl5pPr marL="1828800" indent="0">
              <a:buNone/>
              <a:defRPr lang="es-ES" sz="1000"/>
            </a:lvl5pPr>
            <a:lvl6pPr marL="2286000" indent="0">
              <a:buNone/>
              <a:defRPr lang="es-ES" sz="1000"/>
            </a:lvl6pPr>
            <a:lvl7pPr marL="2743200" indent="0">
              <a:buNone/>
              <a:defRPr lang="es-ES" sz="1000"/>
            </a:lvl7pPr>
            <a:lvl8pPr marL="3200400" indent="0">
              <a:buNone/>
              <a:defRPr lang="es-ES" sz="1000"/>
            </a:lvl8pPr>
            <a:lvl9pPr marL="3657600" indent="0">
              <a:buNone/>
              <a:defRPr lang="es-ES" sz="10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6493B1-79A4-1FA9-B462-853856DE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es-ES"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lang="es-ES" sz="3200"/>
            </a:lvl1pPr>
            <a:lvl2pPr marL="457200" indent="0">
              <a:buNone/>
              <a:defRPr lang="es-ES" sz="2800"/>
            </a:lvl2pPr>
            <a:lvl3pPr marL="914400" indent="0">
              <a:buNone/>
              <a:defRPr lang="es-ES" sz="2400"/>
            </a:lvl3pPr>
            <a:lvl4pPr marL="1371600" indent="0">
              <a:buNone/>
              <a:defRPr lang="es-ES" sz="2000"/>
            </a:lvl4pPr>
            <a:lvl5pPr marL="1828800" indent="0">
              <a:buNone/>
              <a:defRPr lang="es-ES" sz="2000"/>
            </a:lvl5pPr>
            <a:lvl6pPr marL="2286000" indent="0">
              <a:buNone/>
              <a:defRPr lang="es-ES" sz="2000"/>
            </a:lvl6pPr>
            <a:lvl7pPr marL="2743200" indent="0">
              <a:buNone/>
              <a:defRPr lang="es-ES" sz="2000"/>
            </a:lvl7pPr>
            <a:lvl8pPr marL="3200400" indent="0">
              <a:buNone/>
              <a:defRPr lang="es-ES" sz="2000"/>
            </a:lvl8pPr>
            <a:lvl9pPr marL="3657600" indent="0">
              <a:buNone/>
              <a:defRPr lang="es-ES" sz="2000"/>
            </a:lvl9pPr>
          </a:lstStyle>
          <a:p>
            <a:pPr rtl="0"/>
            <a:endParaRPr lang="es-ES" noProof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es-ES" sz="1600"/>
            </a:lvl1pPr>
            <a:lvl2pPr marL="457200" indent="0">
              <a:buNone/>
              <a:defRPr lang="es-ES" sz="1400"/>
            </a:lvl2pPr>
            <a:lvl3pPr marL="914400" indent="0">
              <a:buNone/>
              <a:defRPr lang="es-ES" sz="1200"/>
            </a:lvl3pPr>
            <a:lvl4pPr marL="1371600" indent="0">
              <a:buNone/>
              <a:defRPr lang="es-ES" sz="1000"/>
            </a:lvl4pPr>
            <a:lvl5pPr marL="1828800" indent="0">
              <a:buNone/>
              <a:defRPr lang="es-ES" sz="1000"/>
            </a:lvl5pPr>
            <a:lvl6pPr marL="2286000" indent="0">
              <a:buNone/>
              <a:defRPr lang="es-ES" sz="1000"/>
            </a:lvl6pPr>
            <a:lvl7pPr marL="2743200" indent="0">
              <a:buNone/>
              <a:defRPr lang="es-ES" sz="1000"/>
            </a:lvl7pPr>
            <a:lvl8pPr marL="3200400" indent="0">
              <a:buNone/>
              <a:defRPr lang="es-ES" sz="1000"/>
            </a:lvl8pPr>
            <a:lvl9pPr marL="3657600" indent="0">
              <a:buNone/>
              <a:defRPr lang="es-ES"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464F27-6C3B-1E36-B1DC-ECB72DCF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79" y="301752"/>
            <a:ext cx="2043853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tx2"/>
                </a:solidFill>
              </a:defRPr>
            </a:lvl1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8575040" cy="2387600"/>
          </a:xfrm>
        </p:spPr>
        <p:txBody>
          <a:bodyPr rtlCol="0">
            <a:normAutofit fontScale="90000"/>
          </a:bodyPr>
          <a:lstStyle>
            <a:defPPr>
              <a:defRPr lang="es-ES"/>
            </a:defPPr>
          </a:lstStyle>
          <a:p>
            <a:r>
              <a:rPr lang="es-ES" dirty="0"/>
              <a:t>Base de datos y programación web</a:t>
            </a:r>
            <a:endParaRPr lang="es-ES" dirty="0">
              <a:cs typeface="Arial"/>
            </a:endParaRPr>
          </a:p>
        </p:txBody>
      </p:sp>
      <p:sp>
        <p:nvSpPr>
          <p:cNvPr id="11" name="Subtítulo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EQ10-JJ.VV.</a:t>
            </a:r>
          </a:p>
          <a:p>
            <a:r>
              <a:rPr lang="es-ES" dirty="0">
                <a:cs typeface="Arial"/>
              </a:rPr>
              <a:t>Juan Durán y José Hernández</a:t>
            </a:r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7864" y="579120"/>
            <a:ext cx="9580880" cy="886968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Contexto y problemática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79730E-E638-275F-6C74-85FDCE30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r>
              <a:rPr lang="es-ES" dirty="0">
                <a:cs typeface="Arial"/>
              </a:rPr>
              <a:t>Junta de Vecinos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631843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r>
              <a:rPr lang="es-ES" dirty="0"/>
              <a:t>Alta densidad de habitantes</a:t>
            </a:r>
          </a:p>
          <a:p>
            <a:r>
              <a:rPr lang="es-ES" dirty="0">
                <a:cs typeface="Arial"/>
              </a:rPr>
              <a:t>Registros Físicos</a:t>
            </a:r>
          </a:p>
          <a:p>
            <a:r>
              <a:rPr lang="es-ES" dirty="0">
                <a:cs typeface="Arial"/>
              </a:rPr>
              <a:t>Carga a los dirigentes</a:t>
            </a:r>
          </a:p>
          <a:p>
            <a:endParaRPr lang="es-ES" dirty="0">
              <a:cs typeface="Arial"/>
            </a:endParaRPr>
          </a:p>
          <a:p>
            <a:r>
              <a:rPr lang="es-ES" dirty="0">
                <a:cs typeface="Arial"/>
              </a:rPr>
              <a:t>Pérdida de oportunidades</a:t>
            </a:r>
          </a:p>
          <a:p>
            <a:r>
              <a:rPr lang="es-ES" dirty="0">
                <a:cs typeface="Arial"/>
              </a:rPr>
              <a:t>Trabajo </a:t>
            </a:r>
            <a:r>
              <a:rPr lang="es-ES" dirty="0" err="1">
                <a:cs typeface="Arial"/>
              </a:rPr>
              <a:t>multi-entorno</a:t>
            </a:r>
            <a:r>
              <a:rPr lang="es-ES" dirty="0">
                <a:cs typeface="Arial"/>
              </a:rPr>
              <a:t> propicia aislamiento</a:t>
            </a:r>
          </a:p>
          <a:p>
            <a:r>
              <a:rPr lang="es-ES" dirty="0">
                <a:cs typeface="Arial"/>
              </a:rPr>
              <a:t>Disponibilidad limitada</a:t>
            </a:r>
          </a:p>
          <a:p>
            <a:endParaRPr lang="es-ES" dirty="0">
              <a:cs typeface="Arial"/>
            </a:endParaRPr>
          </a:p>
          <a:p>
            <a:endParaRPr lang="es-ES" dirty="0">
              <a:cs typeface="Arial"/>
            </a:endParaRPr>
          </a:p>
          <a:p>
            <a:endParaRPr lang="es-E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cs typeface="Arial"/>
              </a:rPr>
              <a:t>Solución</a:t>
            </a:r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Junta De Vecinos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2F894F-23A1-85D4-2713-57D743F808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r>
              <a:rPr lang="es-ES" dirty="0"/>
              <a:t>Convergencia de Entornos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EF4D35-9BD6-00FC-A23D-DCE50F2F20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r>
              <a:rPr lang="es-ES" dirty="0">
                <a:cs typeface="Arial"/>
              </a:rPr>
              <a:t>Automatización de procesos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683C73-2637-AC0E-5A6B-47B6C6CB9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pPr marL="283210" indent="-283210"/>
            <a:r>
              <a:rPr lang="es-ES" dirty="0"/>
              <a:t>Relaciona la información</a:t>
            </a:r>
          </a:p>
          <a:p>
            <a:pPr marL="283210" indent="-283210"/>
            <a:r>
              <a:rPr lang="es-ES" dirty="0">
                <a:cs typeface="Arial"/>
              </a:rPr>
              <a:t>Reduce la posibilidad de pérdida</a:t>
            </a:r>
          </a:p>
          <a:p>
            <a:pPr marL="283210" indent="-283210"/>
            <a:r>
              <a:rPr lang="es-ES" dirty="0">
                <a:cs typeface="Arial"/>
              </a:rPr>
              <a:t>Reducción de registros físicos</a:t>
            </a:r>
          </a:p>
          <a:p>
            <a:pPr marL="283210" indent="-283210"/>
            <a:endParaRPr lang="es-ES" dirty="0">
              <a:cs typeface="Arial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46865D3-E9E5-FDDD-B091-FE6F9039C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pPr marL="283210" indent="-283210"/>
            <a:r>
              <a:rPr lang="es-ES" dirty="0"/>
              <a:t>Optimización de tareas</a:t>
            </a:r>
          </a:p>
          <a:p>
            <a:pPr marL="283210" indent="-283210"/>
            <a:r>
              <a:rPr lang="es-ES" dirty="0">
                <a:cs typeface="Arial"/>
              </a:rPr>
              <a:t>Menos carga</a:t>
            </a:r>
          </a:p>
          <a:p>
            <a:pPr marL="283210" indent="-283210"/>
            <a:r>
              <a:rPr lang="es-ES" dirty="0">
                <a:cs typeface="Arial"/>
              </a:rPr>
              <a:t>Reducción de tiempo  en tareas administrativas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r>
              <a:rPr lang="es-ES"/>
              <a:t>Junta de Vecinos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/>
              <a:t>4</a:t>
            </a:fld>
            <a:endParaRPr lang="es-ES"/>
          </a:p>
        </p:txBody>
      </p:sp>
      <p:pic>
        <p:nvPicPr>
          <p:cNvPr id="21" name="Imagen 2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80E8CB1-B726-093D-C617-739F30E6B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732155"/>
            <a:ext cx="5391150" cy="5391150"/>
          </a:xfrm>
          <a:prstGeom prst="rect">
            <a:avLst/>
          </a:prstGeom>
        </p:spPr>
      </p:pic>
      <p:pic>
        <p:nvPicPr>
          <p:cNvPr id="23" name="Imagen 22" descr="Interfaz de usuario gráfica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63047788-25C1-ED9F-5CA2-47DC257D3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945" y="733425"/>
            <a:ext cx="539115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880EE-1FCC-D20D-ACF6-7FFC0CA1D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EB2DDC4D-16FE-19CC-047F-2956D022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r>
              <a:rPr lang="es-ES"/>
              <a:t>Junta de Vecinos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D977B96E-AF4F-74D9-9B7F-864FBF72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5</a:t>
            </a:fld>
            <a:endParaRPr lang="es-E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A735885-5678-FD30-BA67-59CE48B74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10" y="733425"/>
            <a:ext cx="5391150" cy="53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8D1358C-DA58-9577-3711-3B72C7D2C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610" y="733425"/>
            <a:ext cx="5391150" cy="5391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563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4E5E851-79F8-89B4-F76B-07F9916C1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r>
              <a:rPr lang="es-ES" noProof="0" dirty="0"/>
              <a:t>Back-</a:t>
            </a:r>
            <a:r>
              <a:rPr lang="es-ES" noProof="0" dirty="0" err="1"/>
              <a:t>End</a:t>
            </a:r>
            <a:endParaRPr lang="es-ES" noProof="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C7389FB-F20B-E956-8A9A-97B0FC64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BFCF61C-3B18-4C03-8326-CC3B32D710C9}" type="slidenum">
              <a:rPr lang="es-ES" noProof="0" smtClean="0"/>
              <a:t>6</a:t>
            </a:fld>
            <a:endParaRPr lang="es-ES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A79832C-4C71-E65A-FCF5-533B4E107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A2B47E-6A53-7158-B3E3-6682471C65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5E55A5C-5CCE-3DD7-2202-F49B2239A8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D1D6191-5687-E0E9-0FD7-9FEA8F2A76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5D5ECD8-C28D-0977-63FF-73B194298B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432CC72-FC9C-E786-DC51-72E9CB869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1015"/>
            <a:ext cx="12192000" cy="495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1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E2839EBB-D487-1927-A14B-EBE5564A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dirty="0"/>
              <a:t>Modelo Relacional</a:t>
            </a:r>
            <a:endParaRPr lang="es-ES" noProof="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C9F657E-5853-74BF-DF9A-1660DC9A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BFCF61C-3B18-4C03-8326-CC3B32D710C9}" type="slidenum">
              <a:rPr lang="es-ES" noProof="0" smtClean="0"/>
              <a:t>7</a:t>
            </a:fld>
            <a:endParaRPr lang="es-ES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06BBBF2-8961-95A0-29B4-AF5043B4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0540CC-5434-69FC-5B38-C3B948195F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E91CBD2-3959-3EDB-16B0-D21A8BE1EB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C090D6A-A079-8298-737E-2241E68C5B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AEEEEAC-8DDD-D79F-0900-F6D7F9DEDE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9" name="drawing">
            <a:extLst>
              <a:ext uri="{FF2B5EF4-FFF2-40B4-BE49-F238E27FC236}">
                <a16:creationId xmlns:a16="http://schemas.microsoft.com/office/drawing/2014/main" id="{5094CB2C-22D4-4CB3-AED1-9E24095D1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712" y="566737"/>
            <a:ext cx="5362575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502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2" id="{5D6FBA16-B4D1-4307-B1D7-61285FA0D9C0}" vid="{1DA9E459-46CB-4408-AA4C-63950E2E548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1F98F7-6576-47F1-AD63-56E26C339747}">
  <ds:schemaRefs>
    <ds:schemaRef ds:uri="http://www.w3.org/XML/1998/namespace"/>
    <ds:schemaRef ds:uri="http://purl.org/dc/terms/"/>
    <ds:schemaRef ds:uri="230e9df3-be65-4c73-a93b-d1236ebd677e"/>
    <ds:schemaRef ds:uri="http://schemas.microsoft.com/office/2006/documentManagement/types"/>
    <ds:schemaRef ds:uri="71af3243-3dd4-4a8d-8c0d-dd76da1f02a5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83CE7D-BFC6-4030-A335-E7F88DB66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93</Words>
  <Application>Microsoft Office PowerPoint</Application>
  <PresentationFormat>Panorámica</PresentationFormat>
  <Paragraphs>38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Tema de Office</vt:lpstr>
      <vt:lpstr>Base de datos y programación web</vt:lpstr>
      <vt:lpstr>Contexto y problemática</vt:lpstr>
      <vt:lpstr>Solución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lSkipl</dc:creator>
  <cp:lastModifiedBy>Juan Ignacio Duran Aracena</cp:lastModifiedBy>
  <cp:revision>89</cp:revision>
  <dcterms:created xsi:type="dcterms:W3CDTF">2025-09-23T14:21:56Z</dcterms:created>
  <dcterms:modified xsi:type="dcterms:W3CDTF">2025-09-23T16:09:43Z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